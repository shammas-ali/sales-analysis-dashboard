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1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mmas Ali" userId="f3c823c03ff68876" providerId="LiveId" clId="{60486E1D-4C73-46A0-8164-233CE9337C1E}"/>
    <pc:docChg chg="undo custSel modSld">
      <pc:chgData name="Shammas Ali" userId="f3c823c03ff68876" providerId="LiveId" clId="{60486E1D-4C73-46A0-8164-233CE9337C1E}" dt="2026-05-10T11:23:37.327" v="33" actId="207"/>
      <pc:docMkLst>
        <pc:docMk/>
      </pc:docMkLst>
      <pc:sldChg chg="modSp mod">
        <pc:chgData name="Shammas Ali" userId="f3c823c03ff68876" providerId="LiveId" clId="{60486E1D-4C73-46A0-8164-233CE9337C1E}" dt="2026-05-10T11:18:29.440" v="7" actId="207"/>
        <pc:sldMkLst>
          <pc:docMk/>
          <pc:sldMk cId="0" sldId="258"/>
        </pc:sldMkLst>
        <pc:spChg chg="mod">
          <ac:chgData name="Shammas Ali" userId="f3c823c03ff68876" providerId="LiveId" clId="{60486E1D-4C73-46A0-8164-233CE9337C1E}" dt="2026-05-10T11:18:06.496" v="0" actId="207"/>
          <ac:spMkLst>
            <pc:docMk/>
            <pc:sldMk cId="0" sldId="258"/>
            <ac:spMk id="5" creationId="{00000000-0000-0000-0000-000000000000}"/>
          </ac:spMkLst>
        </pc:spChg>
        <pc:spChg chg="mod">
          <ac:chgData name="Shammas Ali" userId="f3c823c03ff68876" providerId="LiveId" clId="{60486E1D-4C73-46A0-8164-233CE9337C1E}" dt="2026-05-10T11:18:10.315" v="1" actId="20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Shammas Ali" userId="f3c823c03ff68876" providerId="LiveId" clId="{60486E1D-4C73-46A0-8164-233CE9337C1E}" dt="2026-05-10T11:18:13.233" v="2" actId="207"/>
          <ac:spMkLst>
            <pc:docMk/>
            <pc:sldMk cId="0" sldId="258"/>
            <ac:spMk id="15" creationId="{00000000-0000-0000-0000-000000000000}"/>
          </ac:spMkLst>
        </pc:spChg>
        <pc:spChg chg="mod">
          <ac:chgData name="Shammas Ali" userId="f3c823c03ff68876" providerId="LiveId" clId="{60486E1D-4C73-46A0-8164-233CE9337C1E}" dt="2026-05-10T11:18:16.450" v="3" actId="207"/>
          <ac:spMkLst>
            <pc:docMk/>
            <pc:sldMk cId="0" sldId="258"/>
            <ac:spMk id="20" creationId="{00000000-0000-0000-0000-000000000000}"/>
          </ac:spMkLst>
        </pc:spChg>
        <pc:spChg chg="mod">
          <ac:chgData name="Shammas Ali" userId="f3c823c03ff68876" providerId="LiveId" clId="{60486E1D-4C73-46A0-8164-233CE9337C1E}" dt="2026-05-10T11:18:25.955" v="6" actId="207"/>
          <ac:spMkLst>
            <pc:docMk/>
            <pc:sldMk cId="0" sldId="258"/>
            <ac:spMk id="25" creationId="{00000000-0000-0000-0000-000000000000}"/>
          </ac:spMkLst>
        </pc:spChg>
        <pc:spChg chg="mod">
          <ac:chgData name="Shammas Ali" userId="f3c823c03ff68876" providerId="LiveId" clId="{60486E1D-4C73-46A0-8164-233CE9337C1E}" dt="2026-05-10T11:18:22.267" v="5" actId="207"/>
          <ac:spMkLst>
            <pc:docMk/>
            <pc:sldMk cId="0" sldId="258"/>
            <ac:spMk id="29" creationId="{00000000-0000-0000-0000-000000000000}"/>
          </ac:spMkLst>
        </pc:spChg>
        <pc:spChg chg="mod">
          <ac:chgData name="Shammas Ali" userId="f3c823c03ff68876" providerId="LiveId" clId="{60486E1D-4C73-46A0-8164-233CE9337C1E}" dt="2026-05-10T11:18:29.440" v="7" actId="207"/>
          <ac:spMkLst>
            <pc:docMk/>
            <pc:sldMk cId="0" sldId="258"/>
            <ac:spMk id="30" creationId="{00000000-0000-0000-0000-000000000000}"/>
          </ac:spMkLst>
        </pc:spChg>
      </pc:sldChg>
      <pc:sldChg chg="modSp mod">
        <pc:chgData name="Shammas Ali" userId="f3c823c03ff68876" providerId="LiveId" clId="{60486E1D-4C73-46A0-8164-233CE9337C1E}" dt="2026-05-10T11:23:37.327" v="33" actId="207"/>
        <pc:sldMkLst>
          <pc:docMk/>
          <pc:sldMk cId="0" sldId="261"/>
        </pc:sldMkLst>
        <pc:spChg chg="mod">
          <ac:chgData name="Shammas Ali" userId="f3c823c03ff68876" providerId="LiveId" clId="{60486E1D-4C73-46A0-8164-233CE9337C1E}" dt="2026-05-10T11:23:10.567" v="28" actId="207"/>
          <ac:spMkLst>
            <pc:docMk/>
            <pc:sldMk cId="0" sldId="261"/>
            <ac:spMk id="8" creationId="{00000000-0000-0000-0000-000000000000}"/>
          </ac:spMkLst>
        </pc:spChg>
        <pc:spChg chg="mod">
          <ac:chgData name="Shammas Ali" userId="f3c823c03ff68876" providerId="LiveId" clId="{60486E1D-4C73-46A0-8164-233CE9337C1E}" dt="2026-05-10T11:23:15.655" v="29" actId="207"/>
          <ac:spMkLst>
            <pc:docMk/>
            <pc:sldMk cId="0" sldId="261"/>
            <ac:spMk id="13" creationId="{00000000-0000-0000-0000-000000000000}"/>
          </ac:spMkLst>
        </pc:spChg>
        <pc:spChg chg="mod">
          <ac:chgData name="Shammas Ali" userId="f3c823c03ff68876" providerId="LiveId" clId="{60486E1D-4C73-46A0-8164-233CE9337C1E}" dt="2026-05-10T11:23:30.815" v="32" actId="207"/>
          <ac:spMkLst>
            <pc:docMk/>
            <pc:sldMk cId="0" sldId="261"/>
            <ac:spMk id="18" creationId="{00000000-0000-0000-0000-000000000000}"/>
          </ac:spMkLst>
        </pc:spChg>
        <pc:spChg chg="mod">
          <ac:chgData name="Shammas Ali" userId="f3c823c03ff68876" providerId="LiveId" clId="{60486E1D-4C73-46A0-8164-233CE9337C1E}" dt="2026-05-10T11:23:21.368" v="30" actId="207"/>
          <ac:spMkLst>
            <pc:docMk/>
            <pc:sldMk cId="0" sldId="261"/>
            <ac:spMk id="23" creationId="{00000000-0000-0000-0000-000000000000}"/>
          </ac:spMkLst>
        </pc:spChg>
        <pc:spChg chg="mod">
          <ac:chgData name="Shammas Ali" userId="f3c823c03ff68876" providerId="LiveId" clId="{60486E1D-4C73-46A0-8164-233CE9337C1E}" dt="2026-05-10T11:23:25.940" v="31" actId="207"/>
          <ac:spMkLst>
            <pc:docMk/>
            <pc:sldMk cId="0" sldId="261"/>
            <ac:spMk id="28" creationId="{00000000-0000-0000-0000-000000000000}"/>
          </ac:spMkLst>
        </pc:spChg>
        <pc:spChg chg="mod">
          <ac:chgData name="Shammas Ali" userId="f3c823c03ff68876" providerId="LiveId" clId="{60486E1D-4C73-46A0-8164-233CE9337C1E}" dt="2026-05-10T11:19:11.462" v="10" actId="1076"/>
          <ac:spMkLst>
            <pc:docMk/>
            <pc:sldMk cId="0" sldId="261"/>
            <ac:spMk id="30" creationId="{00000000-0000-0000-0000-000000000000}"/>
          </ac:spMkLst>
        </pc:spChg>
        <pc:spChg chg="mod">
          <ac:chgData name="Shammas Ali" userId="f3c823c03ff68876" providerId="LiveId" clId="{60486E1D-4C73-46A0-8164-233CE9337C1E}" dt="2026-05-10T11:23:37.327" v="33" actId="207"/>
          <ac:spMkLst>
            <pc:docMk/>
            <pc:sldMk cId="0" sldId="261"/>
            <ac:spMk id="33" creationId="{00000000-0000-0000-0000-000000000000}"/>
          </ac:spMkLst>
        </pc:spChg>
        <pc:spChg chg="mod">
          <ac:chgData name="Shammas Ali" userId="f3c823c03ff68876" providerId="LiveId" clId="{60486E1D-4C73-46A0-8164-233CE9337C1E}" dt="2026-05-10T11:18:56.529" v="8" actId="1076"/>
          <ac:spMkLst>
            <pc:docMk/>
            <pc:sldMk cId="0" sldId="261"/>
            <ac:spMk id="37" creationId="{00000000-0000-0000-0000-000000000000}"/>
          </ac:spMkLst>
        </pc:spChg>
      </pc:sldChg>
      <pc:sldChg chg="modSp mod">
        <pc:chgData name="Shammas Ali" userId="f3c823c03ff68876" providerId="LiveId" clId="{60486E1D-4C73-46A0-8164-233CE9337C1E}" dt="2026-05-10T11:20:15.802" v="23" actId="207"/>
        <pc:sldMkLst>
          <pc:docMk/>
          <pc:sldMk cId="0" sldId="262"/>
        </pc:sldMkLst>
        <pc:spChg chg="mod">
          <ac:chgData name="Shammas Ali" userId="f3c823c03ff68876" providerId="LiveId" clId="{60486E1D-4C73-46A0-8164-233CE9337C1E}" dt="2026-05-10T11:19:56.860" v="19" actId="207"/>
          <ac:spMkLst>
            <pc:docMk/>
            <pc:sldMk cId="0" sldId="262"/>
            <ac:spMk id="7" creationId="{00000000-0000-0000-0000-000000000000}"/>
          </ac:spMkLst>
        </pc:spChg>
        <pc:spChg chg="mod">
          <ac:chgData name="Shammas Ali" userId="f3c823c03ff68876" providerId="LiveId" clId="{60486E1D-4C73-46A0-8164-233CE9337C1E}" dt="2026-05-10T11:20:04.806" v="21" actId="20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Shammas Ali" userId="f3c823c03ff68876" providerId="LiveId" clId="{60486E1D-4C73-46A0-8164-233CE9337C1E}" dt="2026-05-10T11:20:10.948" v="22" actId="207"/>
          <ac:spMkLst>
            <pc:docMk/>
            <pc:sldMk cId="0" sldId="262"/>
            <ac:spMk id="13" creationId="{00000000-0000-0000-0000-000000000000}"/>
          </ac:spMkLst>
        </pc:spChg>
        <pc:spChg chg="mod">
          <ac:chgData name="Shammas Ali" userId="f3c823c03ff68876" providerId="LiveId" clId="{60486E1D-4C73-46A0-8164-233CE9337C1E}" dt="2026-05-10T11:20:15.802" v="23" actId="207"/>
          <ac:spMkLst>
            <pc:docMk/>
            <pc:sldMk cId="0" sldId="262"/>
            <ac:spMk id="16" creationId="{00000000-0000-0000-0000-000000000000}"/>
          </ac:spMkLst>
        </pc:spChg>
      </pc:sldChg>
      <pc:sldChg chg="modSp mod">
        <pc:chgData name="Shammas Ali" userId="f3c823c03ff68876" providerId="LiveId" clId="{60486E1D-4C73-46A0-8164-233CE9337C1E}" dt="2026-05-10T11:21:36.209" v="25"/>
        <pc:sldMkLst>
          <pc:docMk/>
          <pc:sldMk cId="0" sldId="263"/>
        </pc:sldMkLst>
        <pc:graphicFrameChg chg="mod modGraphic">
          <ac:chgData name="Shammas Ali" userId="f3c823c03ff68876" providerId="LiveId" clId="{60486E1D-4C73-46A0-8164-233CE9337C1E}" dt="2026-05-10T11:21:36.209" v="25"/>
          <ac:graphicFrameMkLst>
            <pc:docMk/>
            <pc:sldMk cId="0" sldId="263"/>
            <ac:graphicFrameMk id="9" creationId="{00000000-0000-0000-0000-00000000000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EEAD4"/>
                </a:solidFill>
                <a:latin typeface="Arial"/>
              </a:defRPr>
            </a:pPr>
            <a:r>
              <a:rPr lang="en-GB" sz="1300" b="0" i="0" u="none" strike="noStrike">
                <a:solidFill>
                  <a:srgbClr val="5EEAD4"/>
                </a:solidFill>
                <a:latin typeface="Arial"/>
              </a:rPr>
              <a:t>Revenue by Category ($)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by Category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9E5-4A6C-BD9F-3DACC4D9BDA3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9E5-4A6C-BD9F-3DACC4D9BDA3}"/>
              </c:ext>
            </c:extLst>
          </c:dPt>
          <c:dPt>
            <c:idx val="2"/>
            <c:invertIfNegative val="0"/>
            <c:bubble3D val="0"/>
            <c:spPr>
              <a:solidFill>
                <a:srgbClr val="818C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9E5-4A6C-BD9F-3DACC4D9BDA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LID4096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Furniture</c:v>
                </c:pt>
                <c:pt idx="2">
                  <c:v>Office Supplies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836154</c:v>
                </c:pt>
                <c:pt idx="1">
                  <c:v>741999</c:v>
                </c:pt>
                <c:pt idx="2">
                  <c:v>719047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9E5-4A6C-BD9F-3DACC4D9BDA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LID4096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6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LID4096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76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8604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55080" y="-941832"/>
            <a:ext cx="3657600" cy="3657600"/>
          </a:xfrm>
          <a:prstGeom prst="ellipse">
            <a:avLst/>
          </a:prstGeom>
          <a:solidFill>
            <a:srgbClr val="1E2761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51146" y="-365760"/>
            <a:ext cx="2286000" cy="228600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SALES INTELLIGENCE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2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v2.0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Sales Analytics Platform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2651760" cy="1097280"/>
          </a:xfrm>
          <a:prstGeom prst="rect">
            <a:avLst/>
          </a:prstGeom>
          <a:solidFill>
            <a:srgbClr val="1E2761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32186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" y="34930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Shammas Naveed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3108960"/>
            <a:ext cx="2651760" cy="1097280"/>
          </a:xfrm>
          <a:prstGeom prst="rect">
            <a:avLst/>
          </a:prstGeom>
          <a:solidFill>
            <a:srgbClr val="1E2761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568" y="32186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01568" y="34930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23-SET-011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3108960"/>
            <a:ext cx="2651760" cy="1097280"/>
          </a:xfrm>
          <a:prstGeom prst="rect">
            <a:avLst/>
          </a:prstGeom>
          <a:solidFill>
            <a:srgbClr val="1E2761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32186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36208" y="34930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2023 — 6th Semester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480560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480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74520" y="4480560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74520" y="4480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4480560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4480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4480560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4480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4480560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4480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543800" y="4480560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43800" y="4480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2183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&amp; MOTIVATION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43000"/>
            <a:ext cx="109728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Messy Datasets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2648" y="16916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column names, missing values, mixed data types in raw sales 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14300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143000"/>
            <a:ext cx="109728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1768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Manual Effort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01768" y="16916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spend hours cleaning, charting, and reporting in Excel — error-prone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01752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3017520"/>
            <a:ext cx="109728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3154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High Tool Costs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2648" y="35661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tools like Tableau &amp; Power BI require licenses and technical expertise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301752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3017520"/>
            <a:ext cx="109728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01768" y="3154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Poor Insights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01768" y="35661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charts lack interactivity, anomaly detection, and automated intelligence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platform that automates the entire sales analytics workflow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97480" cy="1508760"/>
          </a:xfrm>
          <a:prstGeom prst="rect">
            <a:avLst/>
          </a:prstGeom>
          <a:solidFill>
            <a:schemeClr val="accent1">
              <a:lumMod val="75000"/>
              <a:alpha val="92000"/>
            </a:scheme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527048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527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8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508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Data Cleaning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201168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cleaning, deduplication &amp; column detection with confidence scoring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697480" cy="1508760"/>
          </a:xfrm>
          <a:prstGeom prst="rect">
            <a:avLst/>
          </a:prstGeom>
          <a:solidFill>
            <a:schemeClr val="accent1">
              <a:lumMod val="75000"/>
              <a:alpha val="92000"/>
            </a:scheme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55848" y="1527048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527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8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0" y="1508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55848" y="201168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Line, bar, pie, 3D scatter, geo maps — all filterable in real-time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2697480" cy="1508760"/>
          </a:xfrm>
          <a:prstGeom prst="rect">
            <a:avLst/>
          </a:prstGeom>
          <a:solidFill>
            <a:schemeClr val="accent1">
              <a:lumMod val="75000"/>
              <a:alpha val="92000"/>
            </a:scheme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6208" y="1527048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1527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8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20840" y="1508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Forecasting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6208" y="201168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→ ARIMA → Linear Trend fallback chain with 80% confidence bands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154680"/>
            <a:ext cx="2697480" cy="1508760"/>
          </a:xfrm>
          <a:prstGeom prst="rect">
            <a:avLst/>
          </a:prstGeom>
          <a:solidFill>
            <a:schemeClr val="accent1">
              <a:lumMod val="75000"/>
              <a:alpha val="92000"/>
            </a:scheme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3264408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264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8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246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" y="374904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plain-English questions about your dataset — powered by LLM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46120" y="3154680"/>
            <a:ext cx="2697480" cy="1508760"/>
          </a:xfrm>
          <a:prstGeom prst="rect">
            <a:avLst/>
          </a:prstGeom>
          <a:solidFill>
            <a:schemeClr val="accent1">
              <a:lumMod val="75000"/>
              <a:alpha val="92000"/>
            </a:scheme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55848" y="3264408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3264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8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0" y="3246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55848" y="374904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detection, profit alerts, top customers, margin analysis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26480" y="3154680"/>
            <a:ext cx="2697480" cy="1508760"/>
          </a:xfrm>
          <a:prstGeom prst="rect">
            <a:avLst/>
          </a:prstGeom>
          <a:solidFill>
            <a:schemeClr val="accent1">
              <a:lumMod val="75000"/>
              <a:alpha val="92000"/>
            </a:scheme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36208" y="3264408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6208" y="3264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8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20840" y="3246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Export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36208" y="374904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reports with KPIs, charts, EDA, insights &amp; exec summary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2183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9659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INTERFACE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19659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16459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app.py (Streamlit)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230428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Sidebar Filters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296265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7 Tabs Navigation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362102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Responsive Charts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31720" y="2834640"/>
            <a:ext cx="18288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1097280"/>
            <a:ext cx="19659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0972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LOGIC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14600" y="1508760"/>
            <a:ext cx="19659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24328" y="16459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cleaning.py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24328" y="230428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eda.py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24328" y="296265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charts.py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24328" y="362102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insights.py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0560" y="2834640"/>
            <a:ext cx="18288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097280"/>
            <a:ext cx="196596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0972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&amp; FORECASTING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1508760"/>
            <a:ext cx="19659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73168" y="16459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forecasting.py (Prophet/ARIMA)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73168" y="230428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chatbot.py (LLM via OpenRouter)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73168" y="296265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Anomaly Detection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73168" y="362102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Data Quality Score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29400" y="2834640"/>
            <a:ext cx="18288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12280" y="1097280"/>
            <a:ext cx="196596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12280" y="10972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12280" y="1508760"/>
            <a:ext cx="19659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922008" y="16459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report.py (ReportLab PDF)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22008" y="230428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Interactive Plots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22008" y="296265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Download Reports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22008" y="362102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Executive Summary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CSV/Excel Input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8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 — DEEP DIVE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Smart Data Cleaning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whitespace, drop empties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5910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coercion &amp; deduplication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8836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Score (0-100) with grade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286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Intelligent Column Detection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70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heuristics + confidence scores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9626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highest numeric sum = sales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2552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auto-parsing for 40%+ valid rows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6576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Sales Forecasting (ML)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0416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→ ARIMA → Linear Trend chain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3342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confidence intervals shown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6268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Monthly, quarterly, weekly aggregation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Sales Chatbot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12984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LLM integration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5910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Dataset-aware context injection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18836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questions + conversation history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22860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Automated Insights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2670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IQR-based anomaly/outlier detection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29626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alerts &amp; category ranking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2552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concentration risk analysis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36576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PDF Report Generation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40416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— exec summary + KPIs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43342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chart images in report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46268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+ downloadable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80560" y="914400"/>
            <a:ext cx="0" cy="3931920"/>
          </a:xfrm>
          <a:prstGeom prst="line">
            <a:avLst/>
          </a:prstGeom>
          <a:noFill/>
          <a:ln w="9525">
            <a:solidFill>
              <a:srgbClr val="0D9488"/>
            </a:solidFill>
            <a:prstDash val="dash"/>
          </a:ln>
        </p:spPr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2183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VISUALIZATIONS &amp; MODULE DESIGN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612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88720" y="11887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MoM Growth %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260604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05156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1612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023360" y="11887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1600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0" y="2240280"/>
            <a:ext cx="260604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05156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72200" y="11612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🍩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58000" y="11887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0" y="1600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Share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35040" y="2240280"/>
            <a:ext cx="260604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65176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27614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188720" y="2788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Choropleth Map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32004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Country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65760" y="3840480"/>
            <a:ext cx="260604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265176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37560" y="27614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🔮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023360" y="2788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Scatter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023360" y="32004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vs Profit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200400" y="3840480"/>
            <a:ext cx="260604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90626" y="2624328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72200" y="27614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🔥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858000" y="2788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58000" y="3200400"/>
            <a:ext cx="7903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035040" y="3840480"/>
            <a:ext cx="260604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4805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Modules: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325880" y="4498848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1E2761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25880" y="44897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cleaning.py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304288" y="4498848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1E2761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04288" y="44988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eda.py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82696" y="4498848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1E2761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82696" y="44988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charts.py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261104" y="4498848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1E2761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61104" y="44988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insights.py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239512" y="4498848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1E2761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39512" y="44988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forecasting.py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217920" y="4498848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1E2761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44988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chatbot.py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196328" y="4498848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1E2761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96328" y="44988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174736" y="4498848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1E2761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74736" y="44988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800" dirty="0"/>
          </a:p>
        </p:txBody>
      </p:sp>
    </p:spTree>
  </p:cSld>
  <p:clrMapOvr>
    <a:masterClrMapping/>
  </p:clrMapOvr>
  <p:transition spd="slow">
    <p:comb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 &amp; KPIs GENERATED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outputs on the Sample Superstore dataset (9,994 rows)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965960" cy="1280160"/>
          </a:xfrm>
          <a:prstGeom prst="rect">
            <a:avLst/>
          </a:prstGeom>
          <a:solidFill>
            <a:srgbClr val="FFFFFF">
              <a:alpha val="92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$2.3M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14600" y="1234440"/>
            <a:ext cx="1965960" cy="1280160"/>
          </a:xfrm>
          <a:prstGeom prst="rect">
            <a:avLst/>
          </a:prstGeom>
          <a:solidFill>
            <a:srgbClr val="FFFFFF">
              <a:alpha val="92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371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$286K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514600" y="2011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1965960" cy="1280160"/>
          </a:xfrm>
          <a:prstGeom prst="rect">
            <a:avLst/>
          </a:prstGeom>
          <a:solidFill>
            <a:srgbClr val="FFFFFF">
              <a:alpha val="92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371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12.5%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63440" y="2011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12280" y="1234440"/>
            <a:ext cx="1965960" cy="1280160"/>
          </a:xfrm>
          <a:prstGeom prst="rect">
            <a:avLst/>
          </a:prstGeom>
          <a:solidFill>
            <a:srgbClr val="FFFFFF">
              <a:alpha val="92000"/>
            </a:srgbClr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1371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9,994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812280" y="2011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365760" y="2743200"/>
          <a:ext cx="50292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5577840" y="2743200"/>
            <a:ext cx="3200400" cy="1051560"/>
          </a:xfrm>
          <a:prstGeom prst="rect">
            <a:avLst/>
          </a:prstGeom>
          <a:solidFill>
            <a:srgbClr val="10B981">
              <a:alpha val="15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77840" y="2788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Data Quality Score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577840" y="3154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92 / 100  •  Grade A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5577840" y="3931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Automated Insights Generated: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577840" y="42519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is the top revenue category ($836K)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577840" y="44622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of 12.5% — moderate, room to improve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577840" y="46725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categories detected with negative profit — loss alert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577840" y="48828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in filtered dataset — clean data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2183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 &amp; CHALLENGES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11686"/>
              </p:ext>
            </p:extLst>
          </p:nvPr>
        </p:nvGraphicFramePr>
        <p:xfrm>
          <a:off x="365760" y="1051560"/>
          <a:ext cx="5029200" cy="3072384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Library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Version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Streamlit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Web UI &amp; Interactivity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Latest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Pandas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Data Cleaning &amp;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2.x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Plotly Express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Interactive Visualizations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5.x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Prophet / ARIMA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ML Sales Forecasting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1.x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ReportLab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PDF Report Generation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4.x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OpenRouter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LLM-powered AI Chatbot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GPT-4 auto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051560"/>
            <a:ext cx="32461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77840" y="10515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CHALLENGES &amp; SOLUTIONS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577840" y="1554480"/>
            <a:ext cx="3246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6"/>
          <p:cNvSpPr/>
          <p:nvPr/>
        </p:nvSpPr>
        <p:spPr>
          <a:xfrm>
            <a:off x="5650992" y="1572768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Keyword-based column detection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50992" y="1828800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Confidence scoring + user override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577840" y="2157984"/>
            <a:ext cx="3246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50992" y="2176272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 single forecasting model fits all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650992" y="2432304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Prophet → ARIMA → Linear fallback chain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577840" y="2761488"/>
            <a:ext cx="3246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50992" y="2779776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Large dataset performance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650992" y="3035808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Pandas optimization + lazy evaluation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577840" y="3364992"/>
            <a:ext cx="3246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50992" y="3383280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Non-technical users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650992" y="3639312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Plug-and-play Streamlit UI, no config needed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577840" y="3968496"/>
            <a:ext cx="3246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50992" y="3986784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API key management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650992" y="4242816"/>
            <a:ext cx="3090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Streamlit secrets.toml + env variable fallback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ENHANCEMENTS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97480" cy="16002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170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8992" y="11155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ML Models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82880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LSTM / XGBoost for multi-variable sales prediction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697480" cy="16002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55848" y="1170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☁️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959352" y="11155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55848" y="182880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Deploy on Streamlit Cloud, AWS, or Azure for global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97480" cy="16002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1170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839712" y="11155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36208" y="182880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SQL/NoSQL databases as live data sources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2697480" cy="16002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78992" y="29443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Branding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" y="365760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dashboard with configurable themes &amp; logos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2834640"/>
            <a:ext cx="2697480" cy="16002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5848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959352" y="29443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Optimization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55848" y="365760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 and native mobile app companion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834640"/>
            <a:ext cx="2697480" cy="16002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839712" y="29443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&amp; Auth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36208" y="365760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with saved dashboards per user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8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278892"/>
            <a:ext cx="4114800" cy="41148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Fully automated end-to-end sales analytics platform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Plug-and-play — upload CSV, get instant insights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AI chatbot + ML forecasting in a single open-source tool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Professional PDF reports with exec summary &amp; KPIs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Data Quality Score ensures reliable analytics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Modular design — scalable for future ML and cloud features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251960"/>
            <a:ext cx="50292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519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github.com/Shammas-Ali/Sales-Analysis-Dashboard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51024" y="1985065"/>
            <a:ext cx="2514600" cy="752746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0213" y="20848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17920" y="2782062"/>
            <a:ext cx="1286691" cy="98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844</Words>
  <Application>Microsoft Office PowerPoint</Application>
  <PresentationFormat>On-screen Show (16:9)</PresentationFormat>
  <Paragraphs>208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Intelligence Dashboard</dc:title>
  <dc:subject>PptxGenJS Presentation</dc:subject>
  <dc:creator>Muhammad Shammas Naveed</dc:creator>
  <cp:lastModifiedBy>Shammas Ali</cp:lastModifiedBy>
  <cp:revision>2</cp:revision>
  <dcterms:created xsi:type="dcterms:W3CDTF">2026-04-30T07:00:51Z</dcterms:created>
  <dcterms:modified xsi:type="dcterms:W3CDTF">2026-05-10T11:24:25Z</dcterms:modified>
</cp:coreProperties>
</file>